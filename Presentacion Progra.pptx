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4781550"/>
            <a:chOff x="0" y="0"/>
            <a:chExt cx="11099800" cy="6375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520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Estación Meteorológica con ESP32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Presentación Técnica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7962900"/>
            <a:ext cx="832485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CBD5E0"/>
                </a:solidFill>
                <a:latin typeface="Telegraf"/>
                <a:ea typeface="Telegraf"/>
                <a:cs typeface="Telegraf"/>
                <a:sym typeface="Telegraf"/>
              </a:rPr>
              <a:t>Alan Rosales </a:t>
            </a:r>
          </a:p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CBD5E0"/>
                </a:solidFill>
                <a:latin typeface="Telegraf"/>
                <a:ea typeface="Telegraf"/>
                <a:cs typeface="Telegraf"/>
                <a:sym typeface="Telegraf"/>
              </a:rPr>
              <a:t>Bruno Capri </a:t>
            </a:r>
          </a:p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CBD5E0"/>
                </a:solidFill>
                <a:latin typeface="Telegraf"/>
                <a:ea typeface="Telegraf"/>
                <a:cs typeface="Telegraf"/>
                <a:sym typeface="Telegraf"/>
              </a:rPr>
              <a:t>Cristian Osorio  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10775"/>
            <a:ext cx="11201400" cy="2764576"/>
            <a:chOff x="0" y="-205331"/>
            <a:chExt cx="14935200" cy="3686101"/>
          </a:xfrm>
        </p:grpSpPr>
        <p:sp>
          <p:nvSpPr>
            <p:cNvPr id="3" name="TextBox 3"/>
            <p:cNvSpPr txBox="1"/>
            <p:nvPr/>
          </p:nvSpPr>
          <p:spPr>
            <a:xfrm>
              <a:off x="0" y="3104598"/>
              <a:ext cx="14935200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Sistema de </a:t>
              </a:r>
              <a:r>
                <a:rPr lang="en-US" sz="1975" u="none" strike="noStrike" spc="-19" dirty="0" err="1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monitoreo</a:t>
              </a:r>
              <a:r>
                <a:rPr lang="en-US" sz="1975" u="none" strike="noStrike" spc="-19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1975" u="none" strike="noStrike" spc="-19" dirty="0" err="1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climático</a:t>
              </a:r>
              <a:r>
                <a:rPr lang="en-US" sz="1975" u="none" strike="noStrike" spc="-19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05331"/>
              <a:ext cx="14935200" cy="13958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55"/>
                </a:lnSpc>
              </a:pPr>
              <a:r>
                <a:rPr lang="en-US" sz="6868" b="1" spc="-68" dirty="0" err="1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Características</a:t>
              </a:r>
              <a:r>
                <a:rPr lang="en-US" sz="6868" b="1" spc="-68" dirty="0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  <a:r>
                <a:rPr lang="en-US" sz="6868" b="1" spc="-68" dirty="0" err="1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Principales</a:t>
              </a:r>
              <a:endParaRPr lang="en-US" sz="6868" b="1" spc="-68" dirty="0">
                <a:solidFill>
                  <a:srgbClr val="4ECCA3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CBD5E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NOTAS IMPORTANTES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581025"/>
            <a:ext cx="115062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u="none" strike="noStrike" spc="-70">
                <a:solidFill>
                  <a:srgbClr val="4ECCA3"/>
                </a:solidFill>
                <a:latin typeface="Telegraf Bold"/>
                <a:ea typeface="Telegraf Bold"/>
                <a:cs typeface="Telegraf Bold"/>
                <a:sym typeface="Telegraf Bold"/>
              </a:rPr>
              <a:t>Características Técnicas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2457450"/>
            <a:ext cx="5427383" cy="2332839"/>
            <a:chOff x="0" y="0"/>
            <a:chExt cx="7236511" cy="31104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Lectura de Sensores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La estación meteorológica realiza un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monitoreo continuo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de temperatura y humedad utilizando el sensor DHT22, garantizando datos precisos y en tiempo real para su análisis.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970" y="5143500"/>
            <a:ext cx="5429080" cy="1980414"/>
            <a:chOff x="0" y="0"/>
            <a:chExt cx="7238774" cy="264055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Portal Cautivo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Incluye un portal cautivo que ofrece una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interfaz web intuitiva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para la configuración de credenciales de WiFi, simplificando el acceso y la administración de la conexión.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57450"/>
            <a:ext cx="5429080" cy="2332839"/>
            <a:chOff x="0" y="0"/>
            <a:chExt cx="7238774" cy="31104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Conectividad WiFi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Con la capacidad de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conexión automática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a redes WiFi, el dispositivo permite una fácil configuración mediante un portal de configuración accesible desde cualquier navegador.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39070" y="5143500"/>
            <a:ext cx="5429080" cy="1980414"/>
            <a:chOff x="0" y="0"/>
            <a:chExt cx="7238774" cy="264055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Integración Supabase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Preparado para la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integración con Supabase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, el sistema puede enviar datos a una base de datos en la nube, lo que permite un almacenamiento y recuperación eficientes.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170" y="5143500"/>
            <a:ext cx="5429080" cy="1627989"/>
            <a:chOff x="0" y="0"/>
            <a:chExt cx="7238774" cy="217065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Página web y app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8774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Para demostrar lo fácil que es su integración hicimos como extra una página web en vercel con reac y una app con widget mobile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92170" y="2457450"/>
            <a:ext cx="5424446" cy="1980414"/>
            <a:chOff x="0" y="0"/>
            <a:chExt cx="7232595" cy="264055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9525"/>
              <a:ext cx="723259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API RESTful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52486"/>
              <a:ext cx="7232595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La API RESTful proporciona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endpoints HTTP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para acceder a datos y ajustes, facilitando la integración de la estación con otras aplicaciones y sistemas de análisis de datos.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Box 2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CBD5E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NOTAS IMPORTANTES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87708" y="3394164"/>
            <a:ext cx="3042167" cy="2118250"/>
            <a:chOff x="0" y="0"/>
            <a:chExt cx="1167319" cy="812800"/>
          </a:xfrm>
        </p:grpSpPr>
        <p:sp>
          <p:nvSpPr>
            <p:cNvPr id="3" name="Freeform 3"/>
            <p:cNvSpPr/>
            <p:nvPr/>
          </p:nvSpPr>
          <p:spPr>
            <a:xfrm rot="-5400000">
              <a:off x="177260" y="-177260"/>
              <a:ext cx="812800" cy="1167319"/>
            </a:xfrm>
            <a:custGeom>
              <a:avLst/>
              <a:gdLst/>
              <a:ahLst/>
              <a:cxnLst/>
              <a:rect l="l" t="t" r="r" b="b"/>
              <a:pathLst>
                <a:path w="812800" h="1167319">
                  <a:moveTo>
                    <a:pt x="812800" y="58532"/>
                  </a:moveTo>
                  <a:lnTo>
                    <a:pt x="812800" y="1108788"/>
                  </a:lnTo>
                  <a:cubicBezTo>
                    <a:pt x="812800" y="1141114"/>
                    <a:pt x="786594" y="1167320"/>
                    <a:pt x="754268" y="1167320"/>
                  </a:cubicBezTo>
                  <a:lnTo>
                    <a:pt x="58532" y="1167320"/>
                  </a:lnTo>
                  <a:cubicBezTo>
                    <a:pt x="43008" y="1167320"/>
                    <a:pt x="28120" y="1161153"/>
                    <a:pt x="17143" y="1150176"/>
                  </a:cubicBezTo>
                  <a:cubicBezTo>
                    <a:pt x="6166" y="1139199"/>
                    <a:pt x="0" y="1124311"/>
                    <a:pt x="0" y="1108788"/>
                  </a:cubicBezTo>
                  <a:lnTo>
                    <a:pt x="0" y="58532"/>
                  </a:lnTo>
                  <a:cubicBezTo>
                    <a:pt x="0" y="43009"/>
                    <a:pt x="6166" y="28121"/>
                    <a:pt x="17143" y="17144"/>
                  </a:cubicBezTo>
                  <a:cubicBezTo>
                    <a:pt x="28120" y="6167"/>
                    <a:pt x="43008" y="0"/>
                    <a:pt x="58532" y="0"/>
                  </a:cubicBezTo>
                  <a:lnTo>
                    <a:pt x="754268" y="0"/>
                  </a:lnTo>
                  <a:cubicBezTo>
                    <a:pt x="769791" y="0"/>
                    <a:pt x="784679" y="6167"/>
                    <a:pt x="795656" y="17144"/>
                  </a:cubicBezTo>
                  <a:cubicBezTo>
                    <a:pt x="806633" y="28121"/>
                    <a:pt x="812800" y="43009"/>
                    <a:pt x="812800" y="58532"/>
                  </a:cubicBezTo>
                  <a:close/>
                </a:path>
              </a:pathLst>
            </a:custGeom>
            <a:blipFill>
              <a:blip r:embed="rId2"/>
              <a:stretch>
                <a:fillRect l="-21808" r="-21808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87708" y="6587990"/>
            <a:ext cx="3042167" cy="2118338"/>
            <a:chOff x="0" y="0"/>
            <a:chExt cx="1167319" cy="8128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58532" y="0"/>
                  </a:moveTo>
                  <a:lnTo>
                    <a:pt x="1108787" y="0"/>
                  </a:lnTo>
                  <a:cubicBezTo>
                    <a:pt x="1141113" y="0"/>
                    <a:pt x="1167319" y="26206"/>
                    <a:pt x="1167319" y="58532"/>
                  </a:cubicBezTo>
                  <a:lnTo>
                    <a:pt x="1167319" y="754302"/>
                  </a:lnTo>
                  <a:cubicBezTo>
                    <a:pt x="1167319" y="769825"/>
                    <a:pt x="1161152" y="784713"/>
                    <a:pt x="1150176" y="795690"/>
                  </a:cubicBezTo>
                  <a:cubicBezTo>
                    <a:pt x="1139199" y="806667"/>
                    <a:pt x="1124311" y="812834"/>
                    <a:pt x="1108787" y="812834"/>
                  </a:cubicBezTo>
                  <a:lnTo>
                    <a:pt x="58532" y="812834"/>
                  </a:lnTo>
                  <a:cubicBezTo>
                    <a:pt x="43008" y="812834"/>
                    <a:pt x="28121" y="806667"/>
                    <a:pt x="17144" y="795690"/>
                  </a:cubicBezTo>
                  <a:cubicBezTo>
                    <a:pt x="6167" y="784713"/>
                    <a:pt x="0" y="769825"/>
                    <a:pt x="0" y="754302"/>
                  </a:cubicBezTo>
                  <a:lnTo>
                    <a:pt x="0" y="58532"/>
                  </a:lnTo>
                  <a:cubicBezTo>
                    <a:pt x="0" y="43008"/>
                    <a:pt x="6167" y="28121"/>
                    <a:pt x="17144" y="17144"/>
                  </a:cubicBezTo>
                  <a:cubicBezTo>
                    <a:pt x="28121" y="6167"/>
                    <a:pt x="43008" y="0"/>
                    <a:pt x="58532" y="0"/>
                  </a:cubicBezTo>
                  <a:close/>
                </a:path>
              </a:pathLst>
            </a:custGeom>
            <a:blipFill>
              <a:blip r:embed="rId3"/>
              <a:stretch>
                <a:fillRect t="-18983" b="-18983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6" name="AutoShape 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7" name="Group 7"/>
          <p:cNvGrpSpPr/>
          <p:nvPr/>
        </p:nvGrpSpPr>
        <p:grpSpPr>
          <a:xfrm>
            <a:off x="666750" y="772815"/>
            <a:ext cx="6886575" cy="2465327"/>
            <a:chOff x="0" y="141420"/>
            <a:chExt cx="9182100" cy="3287103"/>
          </a:xfrm>
        </p:grpSpPr>
        <p:sp>
          <p:nvSpPr>
            <p:cNvPr id="8" name="TextBox 8"/>
            <p:cNvSpPr txBox="1"/>
            <p:nvPr/>
          </p:nvSpPr>
          <p:spPr>
            <a:xfrm>
              <a:off x="0" y="141420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 err="1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Componentes</a:t>
              </a:r>
              <a:r>
                <a:rPr lang="en-US" sz="6999" b="1" spc="-69" dirty="0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de Hardware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 err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Elementos</a:t>
              </a:r>
              <a:r>
                <a:rPr lang="en-US" sz="3000" b="1" spc="-30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Clave del Sistema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59088" y="6838478"/>
            <a:ext cx="5399474" cy="1617364"/>
            <a:chOff x="0" y="0"/>
            <a:chExt cx="7199298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Sensor DHT22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El sensor DHT22 permite la </a:t>
              </a:r>
              <a:r>
                <a:rPr lang="en-US" sz="2000" b="1" spc="-2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lectura precisa de temperatura y humedad</a:t>
              </a: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, esencial para el monitoreo ambiental continuo.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59088" y="3394164"/>
            <a:ext cx="5448300" cy="1617364"/>
            <a:chOff x="0" y="0"/>
            <a:chExt cx="7264400" cy="215648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ESP32 DevKit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El ESP32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DevKit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es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el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000" b="1" spc="-20" dirty="0" err="1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corazón</a:t>
              </a:r>
              <a:r>
                <a:rPr lang="en-US" sz="2000" b="1" spc="-20" dirty="0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del </a:t>
              </a:r>
              <a:r>
                <a:rPr lang="en-US" sz="2000" b="1" spc="-20" dirty="0" err="1">
                  <a:solidFill>
                    <a:srgbClr val="CBD5E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sistema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,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proporcionando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conectividad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y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procesamiento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eficiente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para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datos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000" spc="-20" dirty="0" err="1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ambientales</a:t>
              </a:r>
              <a:r>
                <a:rPr lang="en-US" sz="2000" spc="-20" dirty="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CBD5E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NOTAS IMPORTANTES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2514015"/>
            <a:ext cx="9381013" cy="5258969"/>
            <a:chOff x="0" y="0"/>
            <a:chExt cx="1299908" cy="728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9908" cy="728725"/>
            </a:xfrm>
            <a:custGeom>
              <a:avLst/>
              <a:gdLst/>
              <a:ahLst/>
              <a:cxnLst/>
              <a:rect l="l" t="t" r="r" b="b"/>
              <a:pathLst>
                <a:path w="1299908" h="728725">
                  <a:moveTo>
                    <a:pt x="24245" y="0"/>
                  </a:moveTo>
                  <a:lnTo>
                    <a:pt x="1275662" y="0"/>
                  </a:lnTo>
                  <a:cubicBezTo>
                    <a:pt x="1289053" y="0"/>
                    <a:pt x="1299908" y="10855"/>
                    <a:pt x="1299908" y="24245"/>
                  </a:cubicBezTo>
                  <a:lnTo>
                    <a:pt x="1299908" y="704479"/>
                  </a:lnTo>
                  <a:cubicBezTo>
                    <a:pt x="1299908" y="710909"/>
                    <a:pt x="1297353" y="717076"/>
                    <a:pt x="1292807" y="721623"/>
                  </a:cubicBezTo>
                  <a:cubicBezTo>
                    <a:pt x="1288260" y="726170"/>
                    <a:pt x="1282093" y="728725"/>
                    <a:pt x="1275662" y="728725"/>
                  </a:cubicBezTo>
                  <a:lnTo>
                    <a:pt x="24245" y="728725"/>
                  </a:lnTo>
                  <a:cubicBezTo>
                    <a:pt x="10855" y="728725"/>
                    <a:pt x="0" y="717870"/>
                    <a:pt x="0" y="704479"/>
                  </a:cubicBezTo>
                  <a:lnTo>
                    <a:pt x="0" y="24245"/>
                  </a:lnTo>
                  <a:cubicBezTo>
                    <a:pt x="0" y="10855"/>
                    <a:pt x="10855" y="0"/>
                    <a:pt x="24245" y="0"/>
                  </a:cubicBez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AutoShape 4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5" name="Group 5"/>
          <p:cNvGrpSpPr/>
          <p:nvPr/>
        </p:nvGrpSpPr>
        <p:grpSpPr>
          <a:xfrm>
            <a:off x="10277035" y="3084926"/>
            <a:ext cx="7344215" cy="4117146"/>
            <a:chOff x="0" y="0"/>
            <a:chExt cx="1299908" cy="728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9908" cy="728725"/>
            </a:xfrm>
            <a:custGeom>
              <a:avLst/>
              <a:gdLst/>
              <a:ahLst/>
              <a:cxnLst/>
              <a:rect l="l" t="t" r="r" b="b"/>
              <a:pathLst>
                <a:path w="1299908" h="728725">
                  <a:moveTo>
                    <a:pt x="24245" y="0"/>
                  </a:moveTo>
                  <a:lnTo>
                    <a:pt x="1275662" y="0"/>
                  </a:lnTo>
                  <a:cubicBezTo>
                    <a:pt x="1289053" y="0"/>
                    <a:pt x="1299908" y="10855"/>
                    <a:pt x="1299908" y="24245"/>
                  </a:cubicBezTo>
                  <a:lnTo>
                    <a:pt x="1299908" y="704479"/>
                  </a:lnTo>
                  <a:cubicBezTo>
                    <a:pt x="1299908" y="710909"/>
                    <a:pt x="1297353" y="717076"/>
                    <a:pt x="1292807" y="721623"/>
                  </a:cubicBezTo>
                  <a:cubicBezTo>
                    <a:pt x="1288260" y="726170"/>
                    <a:pt x="1282093" y="728725"/>
                    <a:pt x="1275662" y="728725"/>
                  </a:cubicBezTo>
                  <a:lnTo>
                    <a:pt x="24245" y="728725"/>
                  </a:lnTo>
                  <a:cubicBezTo>
                    <a:pt x="10855" y="728725"/>
                    <a:pt x="0" y="717870"/>
                    <a:pt x="0" y="704479"/>
                  </a:cubicBezTo>
                  <a:lnTo>
                    <a:pt x="0" y="24245"/>
                  </a:lnTo>
                  <a:cubicBezTo>
                    <a:pt x="0" y="10855"/>
                    <a:pt x="10855" y="0"/>
                    <a:pt x="24245" y="0"/>
                  </a:cubicBezTo>
                  <a:close/>
                </a:path>
              </a:pathLst>
            </a:custGeom>
            <a:blipFill>
              <a:blip r:embed="rId3"/>
              <a:stretch>
                <a:fillRect t="-2192" r="-51503" b="-2192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659606"/>
            <a:ext cx="6886575" cy="1558693"/>
            <a:chOff x="0" y="-9525"/>
            <a:chExt cx="9182100" cy="2078257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Portal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04475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Sistema para </a:t>
              </a:r>
              <a:r>
                <a:rPr lang="en-US" sz="3000" b="1" spc="-30" dirty="0" err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wifi</a:t>
              </a:r>
              <a:endParaRPr lang="en-US" sz="3000" b="1" spc="-3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CBD5E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NOTAS IMPORTANTES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0975" y="612717"/>
            <a:ext cx="8019258" cy="9061567"/>
          </a:xfrm>
          <a:custGeom>
            <a:avLst/>
            <a:gdLst/>
            <a:ahLst/>
            <a:cxnLst/>
            <a:rect l="l" t="t" r="r" b="b"/>
            <a:pathLst>
              <a:path w="8019258" h="9061567">
                <a:moveTo>
                  <a:pt x="0" y="0"/>
                </a:moveTo>
                <a:lnTo>
                  <a:pt x="8019258" y="0"/>
                </a:lnTo>
                <a:lnTo>
                  <a:pt x="8019258" y="9061566"/>
                </a:lnTo>
                <a:lnTo>
                  <a:pt x="0" y="9061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7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1034845" y="2429733"/>
            <a:ext cx="5503801" cy="47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3"/>
              </a:lnSpc>
            </a:pPr>
            <a:r>
              <a:rPr lang="en-US" sz="3175" b="1" spc="-31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Envio</a:t>
            </a:r>
            <a:r>
              <a:rPr lang="en-US" sz="3175" b="1" spc="-3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175" b="1" spc="-31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datos</a:t>
            </a:r>
            <a:r>
              <a:rPr lang="en-US" sz="3175" b="1" spc="-3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(POST)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51998" y="6470572"/>
            <a:ext cx="5693798" cy="45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</a:pPr>
            <a:r>
              <a:rPr lang="en-US" sz="2946" b="1" spc="-29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Consultas</a:t>
            </a:r>
            <a:r>
              <a:rPr lang="en-US" sz="2946" b="1" spc="-2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(</a:t>
            </a:r>
            <a:r>
              <a:rPr lang="en-US" sz="2946" b="1" spc="-29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Supabse</a:t>
            </a:r>
            <a:r>
              <a:rPr lang="en-US" sz="2946" b="1" spc="-2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a Influx)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51998" y="3385369"/>
            <a:ext cx="5107251" cy="86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</a:pPr>
            <a:r>
              <a:rPr lang="en-US" sz="2946" b="1" spc="-2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API </a:t>
            </a:r>
            <a:r>
              <a:rPr lang="en-US" sz="2946" b="1" spc="-29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intermedio</a:t>
            </a:r>
            <a:r>
              <a:rPr lang="en-US" sz="2946" b="1" spc="-2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(Edge functions - Cloud)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4845" y="4723412"/>
            <a:ext cx="5107251" cy="1269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endParaRPr dirty="0"/>
          </a:p>
          <a:p>
            <a:pPr marL="0" lvl="0" indent="0" algn="l">
              <a:lnSpc>
                <a:spcPts val="3241"/>
              </a:lnSpc>
            </a:pPr>
            <a:r>
              <a:rPr lang="en-US" sz="2946" b="1" spc="-29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Almacenamiento</a:t>
            </a:r>
            <a:r>
              <a:rPr lang="en-US" sz="2946" b="1" spc="-2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(Influx)</a:t>
            </a:r>
          </a:p>
          <a:p>
            <a:pPr marL="0" lvl="0" indent="0" algn="l">
              <a:lnSpc>
                <a:spcPts val="3241"/>
              </a:lnSpc>
            </a:pPr>
            <a:endParaRPr lang="en-US" sz="2946" b="1" spc="-29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45160"/>
            <a:ext cx="8477250" cy="4204699"/>
            <a:chOff x="0" y="0"/>
            <a:chExt cx="163871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716" cy="812800"/>
            </a:xfrm>
            <a:custGeom>
              <a:avLst/>
              <a:gdLst/>
              <a:ahLst/>
              <a:cxnLst/>
              <a:rect l="l" t="t" r="r" b="b"/>
              <a:pathLst>
                <a:path w="1638716" h="812800">
                  <a:moveTo>
                    <a:pt x="21005" y="0"/>
                  </a:moveTo>
                  <a:lnTo>
                    <a:pt x="1617711" y="0"/>
                  </a:lnTo>
                  <a:cubicBezTo>
                    <a:pt x="1623282" y="0"/>
                    <a:pt x="1628625" y="2213"/>
                    <a:pt x="1632564" y="6152"/>
                  </a:cubicBezTo>
                  <a:cubicBezTo>
                    <a:pt x="1636503" y="10091"/>
                    <a:pt x="1638716" y="15434"/>
                    <a:pt x="1638716" y="21005"/>
                  </a:cubicBezTo>
                  <a:lnTo>
                    <a:pt x="1638716" y="791795"/>
                  </a:lnTo>
                  <a:cubicBezTo>
                    <a:pt x="1638716" y="797366"/>
                    <a:pt x="1636503" y="802709"/>
                    <a:pt x="1632564" y="806648"/>
                  </a:cubicBezTo>
                  <a:cubicBezTo>
                    <a:pt x="1628625" y="810587"/>
                    <a:pt x="1623282" y="812800"/>
                    <a:pt x="1617711" y="812800"/>
                  </a:cubicBezTo>
                  <a:lnTo>
                    <a:pt x="21005" y="812800"/>
                  </a:lnTo>
                  <a:cubicBezTo>
                    <a:pt x="15434" y="812800"/>
                    <a:pt x="10091" y="810587"/>
                    <a:pt x="6152" y="806648"/>
                  </a:cubicBezTo>
                  <a:cubicBezTo>
                    <a:pt x="2213" y="802709"/>
                    <a:pt x="0" y="797366"/>
                    <a:pt x="0" y="791795"/>
                  </a:cubicBezTo>
                  <a:lnTo>
                    <a:pt x="0" y="21005"/>
                  </a:lnTo>
                  <a:cubicBezTo>
                    <a:pt x="0" y="15434"/>
                    <a:pt x="2213" y="10091"/>
                    <a:pt x="6152" y="6152"/>
                  </a:cubicBezTo>
                  <a:cubicBezTo>
                    <a:pt x="10091" y="2213"/>
                    <a:pt x="15434" y="0"/>
                    <a:pt x="21005" y="0"/>
                  </a:cubicBezTo>
                  <a:close/>
                </a:path>
              </a:pathLst>
            </a:custGeom>
            <a:blipFill>
              <a:blip r:embed="rId2"/>
              <a:stretch>
                <a:fillRect l="-3719" t="-11700" r="-5181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AutoShape 4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5" name="Group 5"/>
          <p:cNvGrpSpPr/>
          <p:nvPr/>
        </p:nvGrpSpPr>
        <p:grpSpPr>
          <a:xfrm>
            <a:off x="9467925" y="2945160"/>
            <a:ext cx="8477250" cy="4204699"/>
            <a:chOff x="0" y="0"/>
            <a:chExt cx="1638716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8716" cy="812800"/>
            </a:xfrm>
            <a:custGeom>
              <a:avLst/>
              <a:gdLst/>
              <a:ahLst/>
              <a:cxnLst/>
              <a:rect l="l" t="t" r="r" b="b"/>
              <a:pathLst>
                <a:path w="1638716" h="812800">
                  <a:moveTo>
                    <a:pt x="21005" y="0"/>
                  </a:moveTo>
                  <a:lnTo>
                    <a:pt x="1617711" y="0"/>
                  </a:lnTo>
                  <a:cubicBezTo>
                    <a:pt x="1623282" y="0"/>
                    <a:pt x="1628625" y="2213"/>
                    <a:pt x="1632564" y="6152"/>
                  </a:cubicBezTo>
                  <a:cubicBezTo>
                    <a:pt x="1636503" y="10091"/>
                    <a:pt x="1638716" y="15434"/>
                    <a:pt x="1638716" y="21005"/>
                  </a:cubicBezTo>
                  <a:lnTo>
                    <a:pt x="1638716" y="791795"/>
                  </a:lnTo>
                  <a:cubicBezTo>
                    <a:pt x="1638716" y="797366"/>
                    <a:pt x="1636503" y="802709"/>
                    <a:pt x="1632564" y="806648"/>
                  </a:cubicBezTo>
                  <a:cubicBezTo>
                    <a:pt x="1628625" y="810587"/>
                    <a:pt x="1623282" y="812800"/>
                    <a:pt x="1617711" y="812800"/>
                  </a:cubicBezTo>
                  <a:lnTo>
                    <a:pt x="21005" y="812800"/>
                  </a:lnTo>
                  <a:cubicBezTo>
                    <a:pt x="15434" y="812800"/>
                    <a:pt x="10091" y="810587"/>
                    <a:pt x="6152" y="806648"/>
                  </a:cubicBezTo>
                  <a:cubicBezTo>
                    <a:pt x="2213" y="802709"/>
                    <a:pt x="0" y="797366"/>
                    <a:pt x="0" y="791795"/>
                  </a:cubicBezTo>
                  <a:lnTo>
                    <a:pt x="0" y="21005"/>
                  </a:lnTo>
                  <a:cubicBezTo>
                    <a:pt x="0" y="15434"/>
                    <a:pt x="2213" y="10091"/>
                    <a:pt x="6152" y="6152"/>
                  </a:cubicBezTo>
                  <a:cubicBezTo>
                    <a:pt x="10091" y="2213"/>
                    <a:pt x="15434" y="0"/>
                    <a:pt x="21005" y="0"/>
                  </a:cubicBezTo>
                  <a:close/>
                </a:path>
              </a:pathLst>
            </a:custGeom>
            <a:blipFill>
              <a:blip r:embed="rId3"/>
              <a:stretch>
                <a:fillRect l="-3621" r="-3621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666750"/>
            <a:ext cx="6886575" cy="1599842"/>
            <a:chOff x="0" y="0"/>
            <a:chExt cx="9182100" cy="2133123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4ECCA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Pagina Web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044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 vercel y react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68188" y="7640936"/>
            <a:ext cx="5399474" cy="1617364"/>
            <a:chOff x="0" y="0"/>
            <a:chExt cx="7199298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                 Funciones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Clima por día 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Calendario con promedio</a:t>
              </a:r>
            </a:p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CBD5E0"/>
                  </a:solidFill>
                  <a:latin typeface="Telegraf"/>
                  <a:ea typeface="Telegraf"/>
                  <a:cs typeface="Telegraf"/>
                  <a:sym typeface="Telegraf"/>
                </a:rPr>
                <a:t>Grafico completo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CBD5E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NOTAS IMPORTANTES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300</Words>
  <Application>Microsoft Office PowerPoint</Application>
  <PresentationFormat>Personalizado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Telegraf Bold</vt:lpstr>
      <vt:lpstr>Arial</vt:lpstr>
      <vt:lpstr>Telegraf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Página web y app</dc:title>
  <dc:creator>Capri Bruno</dc:creator>
  <cp:lastModifiedBy>Capri Bruno</cp:lastModifiedBy>
  <cp:revision>2</cp:revision>
  <dcterms:created xsi:type="dcterms:W3CDTF">2006-08-16T00:00:00Z</dcterms:created>
  <dcterms:modified xsi:type="dcterms:W3CDTF">2025-11-09T21:56:12Z</dcterms:modified>
  <dc:identifier>DAG4POd5VPY</dc:identifier>
</cp:coreProperties>
</file>